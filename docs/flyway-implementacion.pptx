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659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7DD3FC"/>
                </a:solidFill>
                <a:latin typeface="Helvetica Neue"/>
                <a:cs typeface="Helvetica Neue"/>
                <a:ea typeface="Helvetica Neue"/>
              </a:rPr>
              <a:t>CONTROL DE VERSIONES PARA LA BASE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32304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Helvetica Neue"/>
                <a:cs typeface="Helvetica Neue"/>
                <a:ea typeface="Helvetica Neue"/>
              </a:rPr>
              <a:t>Flyway + GitHub Actions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400" b="1">
                <a:solidFill>
                  <a:srgbClr val="94A3B8"/>
                </a:solidFill>
                <a:latin typeface="Helvetica Neue"/>
                <a:cs typeface="Helvetica Neue"/>
                <a:ea typeface="Helvetica Neue"/>
              </a:rPr>
              <a:t>sobre MySQL en AWS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8778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0">
                <a:solidFill>
                  <a:srgbClr val="CBD5E1"/>
                </a:solidFill>
                <a:latin typeface="Helvetica Neue"/>
                <a:cs typeface="Helvetica Neue"/>
                <a:ea typeface="Helvetica Neue"/>
              </a:rPr>
              <a:t>Cómo quedó implementado, cómo funciona Flyway, y qué hace cada workflow en el proceso de promoción dev → test → producción.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6235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Menlo"/>
                <a:cs typeface="Menlo"/>
                <a:ea typeface="Menlo"/>
              </a:rPr>
              <a:t>repositorio  ·  alberto8812/sp-implementation          región  ·  us-east-1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2E5AAC"/>
                </a:solidFill>
                <a:latin typeface="Helvetica Neue"/>
                <a:cs typeface="Helvetica Neue"/>
                <a:ea typeface="Helvetica Neue"/>
              </a:rPr>
              <a:t>EL PUNTO DE PARTIDA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El problema que veníamos arrastrando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91072"/>
            <a:ext cx="97228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8A2B3"/>
                </a:solidFill>
                <a:latin typeface="Helvetica Neue"/>
                <a:cs typeface="Helvetica Neue"/>
                <a:ea typeface="Helvetica Neue"/>
              </a:rPr>
              <a:t>Flyway + GitHub Actions + MySQL · sp-implementation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29107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8A2B3"/>
                </a:solidFill>
                <a:latin typeface="Helvetica Neue"/>
                <a:cs typeface="Helvetica Neue"/>
                <a:ea typeface="Helvetica Neue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3362858" cy="18288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40640" cy="18288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11680"/>
            <a:ext cx="28873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Edición a mano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414016"/>
            <a:ext cx="288737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5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Los stored procedures se modificaban directo contra la base. El cambio existía en el motor, en ningún otro lado.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4418" y="1792224"/>
            <a:ext cx="3362858" cy="18288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4418" y="1792224"/>
            <a:ext cx="40640" cy="18288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0450" y="2011680"/>
            <a:ext cx="28873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Copias sueltas en SharePoint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0450" y="2414016"/>
            <a:ext cx="288737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5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Sin historial, sin autor, sin fecha. Una carpeta con archivos que se parecen entre sí.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1596" y="1792224"/>
            <a:ext cx="3362858" cy="18288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1596" y="1792224"/>
            <a:ext cx="40640" cy="18288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7628" y="2011680"/>
            <a:ext cx="28873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Riesgo de aplicar 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7628" y="2414016"/>
            <a:ext cx="288737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5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Nada impide correr la copia equivocada, ni saber después cuál se corrió realmente.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005072"/>
            <a:ext cx="10637215" cy="1417320"/>
          </a:xfrm>
          <a:prstGeom prst="roundRect">
            <a:avLst>
              <a:gd name="adj" fmla="val 5000"/>
            </a:avLst>
          </a:prstGeom>
          <a:solidFill>
            <a:srgbClr val="FD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279392"/>
            <a:ext cx="99056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1">
                <a:solidFill>
                  <a:srgbClr val="B42318"/>
                </a:solidFill>
                <a:latin typeface="Helvetica Neue"/>
                <a:cs typeface="Helvetica Neue"/>
                <a:ea typeface="Helvetica Neue"/>
              </a:rPr>
              <a:t>La consecuencia real: </a:t>
            </a:r>
            <a:r>
              <a:rPr sz="1500" b="1">
                <a:solidFill>
                  <a:srgbClr val="B42318"/>
                </a:solidFill>
                <a:latin typeface="Helvetica Neue"/>
                <a:cs typeface="Helvetica Neue"/>
                <a:ea typeface="Helvetica Neue"/>
              </a:rPr>
              <a:t>los ambientes se separan en silencio.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Nadie se entera hasta que algo falla en producción, y para ese momento ya no se puede reconstruir qué se aplicó, cuándo, ni quién lo hizo.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2E5AAC"/>
                </a:solidFill>
                <a:latin typeface="Helvetica Neue"/>
                <a:cs typeface="Helvetica Neue"/>
                <a:ea typeface="Helvetica Neue"/>
              </a:rPr>
              <a:t>LA RESPUESTA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Las migraciones viven en git; el pipeline las aplica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91072"/>
            <a:ext cx="97228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8A2B3"/>
                </a:solidFill>
                <a:latin typeface="Helvetica Neue"/>
                <a:cs typeface="Helvetica Neue"/>
                <a:ea typeface="Helvetica Neue"/>
              </a:rPr>
              <a:t>Flyway + GitHub Actions + MySQL · sp-implementation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29107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8A2B3"/>
                </a:solidFill>
                <a:latin typeface="Helvetica Neue"/>
                <a:cs typeface="Helvetica Neue"/>
                <a:ea typeface="Helvetica Neue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2467279" cy="21488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14984" y="2029968"/>
            <a:ext cx="384048" cy="384048"/>
          </a:xfrm>
          <a:prstGeom prst="roundRect">
            <a:avLst>
              <a:gd name="adj" fmla="val 35000"/>
            </a:avLst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20299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  <a:cs typeface="Helvetica Neue"/>
                <a:ea typeface="Helvetica Ne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578608"/>
            <a:ext cx="19917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Se versiona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2962656"/>
            <a:ext cx="199179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Cada cambio de esquema o de procedure es un archivo .sql en el repositorio.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0551" y="1792224"/>
            <a:ext cx="2467279" cy="21488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38295" y="2029968"/>
            <a:ext cx="384048" cy="384048"/>
          </a:xfrm>
          <a:prstGeom prst="roundRect">
            <a:avLst>
              <a:gd name="adj" fmla="val 35000"/>
            </a:avLst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8295" y="20299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  <a:cs typeface="Helvetica Neue"/>
                <a:ea typeface="Helvetica Neue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8295" y="2578608"/>
            <a:ext cx="19917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Se revisa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8295" y="2962656"/>
            <a:ext cx="199179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Un pull request con dos checks automáticos. Nada llega a main sin pasar.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863" y="1792224"/>
            <a:ext cx="2467279" cy="21488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61607" y="2029968"/>
            <a:ext cx="384048" cy="384048"/>
          </a:xfrm>
          <a:prstGeom prst="roundRect">
            <a:avLst>
              <a:gd name="adj" fmla="val 35000"/>
            </a:avLst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1607" y="20299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  <a:cs typeface="Helvetica Neue"/>
                <a:ea typeface="Helvetica Neue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607" y="2578608"/>
            <a:ext cx="19917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Se promueve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2962656"/>
            <a:ext cx="199179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Un solo pipeline aplica en orden fijo: dev, después test, después producción.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47175" y="1792224"/>
            <a:ext cx="2467279" cy="21488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84919" y="2029968"/>
            <a:ext cx="384048" cy="384048"/>
          </a:xfrm>
          <a:prstGeom prst="roundRect">
            <a:avLst>
              <a:gd name="adj" fmla="val 35000"/>
            </a:avLst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4919" y="20299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  <a:cs typeface="Helvetica Neue"/>
                <a:ea typeface="Helvetica Neue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4919" y="2578608"/>
            <a:ext cx="19917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Se aprueba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4919" y="2962656"/>
            <a:ext cx="199179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Producción espera la aprobación explícita de una persona designada.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27939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El historial de git reemplaza a la carpeta de SharePoint.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>
                <a:solidFill>
                  <a:srgbClr val="2E5AAC"/>
                </a:solidFill>
                <a:latin typeface="Menlo"/>
                <a:cs typeface="Menlo"/>
                <a:ea typeface="Menlo"/>
              </a:rPr>
              <a:t>git log sql/R__sp_actualizar_pedido.sql</a:t>
            </a:r>
            <a:r>
              <a:rPr sz="15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  responde quién cambió el procedure, cuándo y por qué.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2E5AAC"/>
                </a:solidFill>
                <a:latin typeface="Helvetica Neue"/>
                <a:cs typeface="Helvetica Neue"/>
                <a:ea typeface="Helvetica Neue"/>
              </a:rPr>
              <a:t>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Qué se levantó en 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Una VPC propia, tres bases de datos y un runner self-hosted que es el único que las alcanza.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38528"/>
            <a:ext cx="10637215" cy="1524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97228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8A2B3"/>
                </a:solidFill>
                <a:latin typeface="Helvetica Neue"/>
                <a:cs typeface="Helvetica Neue"/>
                <a:ea typeface="Helvetica Neue"/>
              </a:rPr>
              <a:t>Flyway + GitHub Actions + MySQL · sp-implementation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29107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8A2B3"/>
                </a:solidFill>
                <a:latin typeface="Helvetica Neue"/>
                <a:cs typeface="Helvetica Neue"/>
                <a:ea typeface="Helvetica Neue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49424"/>
            <a:ext cx="6537960" cy="420624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3500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COMPONENTE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032" y="2350008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IDENTIDAD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93792" y="235000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DETALLE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78892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VPC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27889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Menlo"/>
                <a:cs typeface="Menlo"/>
                <a:ea typeface="Menlo"/>
              </a:rPr>
              <a:t>10.42.0.0/16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27889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2 subnets públicas + 2 privadas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127248"/>
            <a:ext cx="6537960" cy="9525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24612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Runner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2" y="32461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Menlo"/>
                <a:cs typeface="Menlo"/>
                <a:ea typeface="Menlo"/>
              </a:rPr>
              <a:t>i-07e9ccba5d10a08c8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32461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EC2 · GitHub Actions self-hosted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584448"/>
            <a:ext cx="6537960" cy="9525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370332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dev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2032" y="37033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Menlo"/>
                <a:cs typeface="Menlo"/>
                <a:ea typeface="Menlo"/>
              </a:rPr>
              <a:t>10.42.3.99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3792" y="3703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EC2 · MySQL 8.0 · solo IP privada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041648"/>
            <a:ext cx="6537960" cy="9525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416052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42032" y="41605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Menlo"/>
                <a:cs typeface="Menlo"/>
                <a:ea typeface="Menlo"/>
              </a:rPr>
              <a:t>10.42.30.8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93792" y="41605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EC2 · MySQL 8.0 · solo IP privada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498848"/>
            <a:ext cx="6537960" cy="9525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" y="461772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production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42032" y="46177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Menlo"/>
                <a:cs typeface="Menlo"/>
                <a:ea typeface="Menlo"/>
              </a:rPr>
              <a:t>flyway-demo-production…rds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93792" y="46177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RDS MySQL administrado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956048"/>
            <a:ext cx="6537960" cy="9525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26680" y="2249424"/>
            <a:ext cx="3687775" cy="3127248"/>
          </a:xfrm>
          <a:prstGeom prst="roundRect">
            <a:avLst>
              <a:gd name="adj" fmla="val 5000"/>
            </a:avLst>
          </a:prstGeom>
          <a:solidFill>
            <a:srgbClr val="E4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01000" y="2505456"/>
            <a:ext cx="31391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0F7B5A"/>
                </a:solidFill>
                <a:latin typeface="Helvetica Neue"/>
                <a:cs typeface="Helvetica Neue"/>
                <a:ea typeface="Helvetica Neue"/>
              </a:rPr>
              <a:t>3 Security Groups, 2 reglas de entrada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2926080"/>
            <a:ext cx="3139135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25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Ese par de números es la arquitectura de seguridad completa: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25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· El EC2 MySQL acepta 3306 desde el Security Group del runner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25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· RDS acepta 3306 desde el Security Group del runner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25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· El grupo del runner no acepta nada. Ni el puerto 22.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25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Las reglas referencian el Security Group ID, no un CIDR: identidad, no ubicación. Sobreviven al reemplazo de la instancia y no las hereda otra máquina de la misma subnet.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650992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Al runner se entra por AWS Systems Manager Session Manager. No hay bastión, no hay llave SSH, no hay puerto abierto a internet.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2E5AAC"/>
                </a:solidFill>
                <a:latin typeface="Helvetica Neue"/>
                <a:cs typeface="Helvetica Neue"/>
                <a:ea typeface="Helvetica Neue"/>
              </a:rPr>
              <a:t>CÓMO FUNCIONA FLYWAY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Una tabla de historial dentro de la propia 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91072"/>
            <a:ext cx="97228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8A2B3"/>
                </a:solidFill>
                <a:latin typeface="Helvetica Neue"/>
                <a:cs typeface="Helvetica Neue"/>
                <a:ea typeface="Helvetica Neue"/>
              </a:rPr>
              <a:t>Flyway + GitHub Actions + MySQL · sp-implementation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29107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8A2B3"/>
                </a:solidFill>
                <a:latin typeface="Helvetica Neue"/>
                <a:cs typeface="Helvetica Neue"/>
                <a:ea typeface="Helvetica Ne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92224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Flyway crea la tabla flyway_schema_history en el mismo esquema que administra. Ahí registra cada migración aplicada con su versión, su descripción, su checksum, quién la aplicó y cuándo. Esa tabla ES la fuente de verdad.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52344"/>
            <a:ext cx="3350666" cy="178308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752344"/>
            <a:ext cx="40640" cy="178308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971800"/>
            <a:ext cx="28751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info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374136"/>
            <a:ext cx="287517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5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Compara los archivos del repositorio contra la tabla de historial y muestra qué está aplicado y qué está pendiente. No modifica nada.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0514" y="2752344"/>
            <a:ext cx="3350666" cy="178308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20514" y="2752344"/>
            <a:ext cx="40640" cy="1783080"/>
          </a:xfrm>
          <a:prstGeom prst="rect">
            <a:avLst/>
          </a:prstGeom>
          <a:solidFill>
            <a:srgbClr val="B54E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6546" y="2971800"/>
            <a:ext cx="28751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6546" y="3374136"/>
            <a:ext cx="287517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5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Recalcula el checksum de cada archivo y lo compara con el registrado. Si alguien editó una migración ya aplicada, falla acá.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3788" y="2752344"/>
            <a:ext cx="3350666" cy="178308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3788" y="2752344"/>
            <a:ext cx="40640" cy="1783080"/>
          </a:xfrm>
          <a:prstGeom prst="rect">
            <a:avLst/>
          </a:prstGeom>
          <a:solidFill>
            <a:srgbClr val="0F7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9820" y="2971800"/>
            <a:ext cx="28751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migrate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9820" y="3374136"/>
            <a:ext cx="287517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5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Aplica en orden todo lo pendiente y escribe una fila nueva por cada migración aplicada. Es la única operación que escribe.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855464"/>
            <a:ext cx="10637215" cy="9144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093208"/>
            <a:ext cx="99971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El checksum es el corazón del mecanismo. </a:t>
            </a:r>
            <a:r>
              <a:rPr sz="14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Si el archivo cambia, el checksum cambia. Flyway compara ese número contra lo que registró en la base, y ahí detecta la divergencia sin que nadie tenga que acordarse de revisarla.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2E5AAC"/>
                </a:solidFill>
                <a:latin typeface="Helvetica Neue"/>
                <a:cs typeface="Helvetica Neue"/>
                <a:ea typeface="Helvetica Neue"/>
              </a:rPr>
              <a:t>LA DISTINCIÓN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Versionadas (V__) vs. repetibles (R__)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Todo lo demás se apoya en esto. El prefijo va en el nombre del archivo, no en el procedure.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38528"/>
            <a:ext cx="10637215" cy="1524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97228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8A2B3"/>
                </a:solidFill>
                <a:latin typeface="Helvetica Neue"/>
                <a:cs typeface="Helvetica Neue"/>
                <a:ea typeface="Helvetica Neue"/>
              </a:rPr>
              <a:t>Flyway + GitHub Actions + MySQL · sp-implementation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29107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8A2B3"/>
                </a:solidFill>
                <a:latin typeface="Helvetica Neue"/>
                <a:cs typeface="Helvetica Neue"/>
                <a:ea typeface="Helvetica Neue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49424"/>
            <a:ext cx="5135727" cy="3200400"/>
          </a:xfrm>
          <a:prstGeom prst="roundRect">
            <a:avLst>
              <a:gd name="adj" fmla="val 5000"/>
            </a:avLst>
          </a:prstGeom>
          <a:solidFill>
            <a:srgbClr val="E4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2505456"/>
            <a:ext cx="868680" cy="329184"/>
          </a:xfrm>
          <a:prstGeom prst="roundRect">
            <a:avLst>
              <a:gd name="adj" fmla="val 35000"/>
            </a:avLst>
          </a:prstGeom>
          <a:solidFill>
            <a:srgbClr val="0F7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505456"/>
            <a:ext cx="868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  <a:cs typeface="Helvetica Neue"/>
                <a:ea typeface="Helvetica Neue"/>
              </a:rPr>
              <a:t>R__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523744"/>
            <a:ext cx="348980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0F7B5A"/>
                </a:solidFill>
                <a:latin typeface="Helvetica Neue"/>
                <a:cs typeface="Helvetica Neue"/>
                <a:ea typeface="Helvetica Neue"/>
              </a:rPr>
              <a:t>Repetible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35808"/>
            <a:ext cx="4587087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Acá van los stored procedures.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Un archivo por procedure, editado en el mismo lugar tantas veces como haga falta.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Flyway detecta que el checksum cambió y lo vuelve a aplicar entero.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El procedure conserva su nombre: quien lo consume sigue llamando CALL sp_actualizar_pedido(...) sin cambios.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2249424"/>
            <a:ext cx="5135727" cy="3200400"/>
          </a:xfrm>
          <a:prstGeom prst="roundRect">
            <a:avLst>
              <a:gd name="adj" fmla="val 5000"/>
            </a:avLst>
          </a:prstGeom>
          <a:solidFill>
            <a:srgbClr val="FE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53047" y="2505456"/>
            <a:ext cx="868680" cy="329184"/>
          </a:xfrm>
          <a:prstGeom prst="roundRect">
            <a:avLst>
              <a:gd name="adj" fmla="val 35000"/>
            </a:avLst>
          </a:prstGeom>
          <a:solidFill>
            <a:srgbClr val="B54E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3047" y="2505456"/>
            <a:ext cx="868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  <a:cs typeface="Helvetica Neue"/>
                <a:ea typeface="Helvetica Neue"/>
              </a:rPr>
              <a:t>V__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58887" y="2523744"/>
            <a:ext cx="348980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B54E08"/>
                </a:solidFill>
                <a:latin typeface="Helvetica Neue"/>
                <a:cs typeface="Helvetica Neue"/>
                <a:ea typeface="Helvetica Neue"/>
              </a:rPr>
              <a:t>Versionada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3035808"/>
            <a:ext cx="4587087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Acá van los cambios estructurales.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Se aplican una sola vez, en orden, y nunca se editan después.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Un ALTER TABLE que ya corrió no puede volver a correr: el siguiente cambio es un archivo nuevo.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Editar una ya aplicada rompe el checksum y detiene el pipeline en dev.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72414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MySQL 8 no tiene CREATE OR REPLACE PROCEDURE, </a:t>
            </a:r>
            <a:r>
              <a:rPr sz="135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así que toda migración repetible abre con DROP PROCEDURE IF EXISTS. Eso es exactamente lo que la hace segura de volver a ejecutar.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2E5AAC"/>
                </a:solidFill>
                <a:latin typeface="Helvetica Neue"/>
                <a:cs typeface="Helvetica Neue"/>
                <a:ea typeface="Helvetica Neue"/>
              </a:rPr>
              <a:t>EN EL REPOSITORIO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Los archivos, y qué tipo es cada uno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91072"/>
            <a:ext cx="97228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8A2B3"/>
                </a:solidFill>
                <a:latin typeface="Helvetica Neue"/>
                <a:cs typeface="Helvetica Neue"/>
                <a:ea typeface="Helvetica Neue"/>
              </a:rPr>
              <a:t>Flyway + GitHub Actions + MySQL · sp-implementation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29107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8A2B3"/>
                </a:solidFill>
                <a:latin typeface="Helvetica Neue"/>
                <a:cs typeface="Helvetica Neue"/>
                <a:ea typeface="Helvetica Neue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10637215" cy="2997962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2011680"/>
            <a:ext cx="10198303" cy="2559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00" b="0">
                <a:solidFill>
                  <a:srgbClr val="7DD3FC"/>
                </a:solidFill>
                <a:latin typeface="Menlo"/>
                <a:cs typeface="Menlo"/>
                <a:ea typeface="Menlo"/>
              </a:rPr>
              <a:t>sql/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Menlo"/>
                <a:cs typeface="Menlo"/>
                <a:ea typeface="Menlo"/>
              </a:rPr>
              <a:t>  V1__baseline_schema.sql           versionada  ·  tablas clientes / pedidos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Menlo"/>
                <a:cs typeface="Menlo"/>
                <a:ea typeface="Menlo"/>
              </a:rPr>
              <a:t>  V2__create_sp_get_cliente.sql     versionada  ·  crea el SP de ejemplo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Menlo"/>
                <a:cs typeface="Menlo"/>
                <a:ea typeface="Menlo"/>
              </a:rPr>
              <a:t>  V3__add_telefono_clientes.sql     versionada  ·  agrega clientes.telefono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Menlo"/>
                <a:cs typeface="Menlo"/>
                <a:ea typeface="Menlo"/>
              </a:rPr>
              <a:t>  R__sp_actualizar_pedido.sql       repetible   ·  se edita en el mismo archivo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Menlo"/>
                <a:cs typeface="Menlo"/>
                <a:ea typeface="Menlo"/>
              </a:rPr>
              <a:t/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00" b="0">
                <a:solidFill>
                  <a:srgbClr val="7DD3FC"/>
                </a:solidFill>
                <a:latin typeface="Menlo"/>
                <a:cs typeface="Menlo"/>
                <a:ea typeface="Menlo"/>
              </a:rPr>
              <a:t>.github/workflows/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Menlo"/>
                <a:cs typeface="Menlo"/>
                <a:ea typeface="Menlo"/>
              </a:rPr>
              <a:t>  pr-check.yml          en cada pull request  ·  inmutabilidad + migrate desde cero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Menlo"/>
                <a:cs typeface="Menlo"/>
                <a:ea typeface="Menlo"/>
              </a:rPr>
              <a:t>  flyway-migrate.yml    orquestador           ·  dev -&gt; test -&gt; production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Menlo"/>
                <a:cs typeface="Menlo"/>
                <a:ea typeface="Menlo"/>
              </a:rPr>
              <a:t>  flyway-run.yml        reutilizable          ·  un ambiente por invocacion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038344"/>
            <a:ext cx="5172303" cy="12344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38344"/>
            <a:ext cx="40640" cy="123444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5257800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Numeración de las versionadas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5660136"/>
            <a:ext cx="46968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V1, V2, V3… El orden lo define el número, no la fecha del commit. Dos ramas que crean V4 en paralelo colisionan, y esa colisión se resuelve en el PR.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2151" y="5038344"/>
            <a:ext cx="5172303" cy="12344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2151" y="5038344"/>
            <a:ext cx="40640" cy="123444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8183" y="5257800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Un archivo por procedure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8183" y="5660136"/>
            <a:ext cx="46968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Dos personas tocando el mismo procedure editan el mismo archivo, y git les muestra el conflicto. Antes se pisaban sin enterarse.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2E5AAC"/>
                </a:solidFill>
                <a:latin typeface="Helvetica Neue"/>
                <a:cs typeface="Helvetica Neue"/>
                <a:ea typeface="Helvetica Neue"/>
              </a:rPr>
              <a:t>LOS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Tres archivos, dos momentos distintos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91072"/>
            <a:ext cx="97228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8A2B3"/>
                </a:solidFill>
                <a:latin typeface="Helvetica Neue"/>
                <a:cs typeface="Helvetica Neue"/>
                <a:ea typeface="Helvetica Neue"/>
              </a:rPr>
              <a:t>Flyway + GitHub Actions + MySQL · sp-implementation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29107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8A2B3"/>
                </a:solidFill>
                <a:latin typeface="Helvetica Neue"/>
                <a:cs typeface="Helvetica Neue"/>
                <a:ea typeface="Helvetica Neue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090007" cy="35661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048256"/>
            <a:ext cx="45047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2E5AAC"/>
                </a:solidFill>
                <a:latin typeface="Helvetica Neue"/>
                <a:cs typeface="Helvetica Neue"/>
                <a:ea typeface="Helvetica Neue"/>
              </a:rPr>
              <a:t>ANTES DEL MERGE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377440"/>
            <a:ext cx="45047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>
                <a:solidFill>
                  <a:srgbClr val="101828"/>
                </a:solidFill>
                <a:latin typeface="Menlo"/>
                <a:cs typeface="Menlo"/>
                <a:ea typeface="Menlo"/>
              </a:rPr>
              <a:t>pr-check.yml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889504"/>
            <a:ext cx="4504791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Se dispara en cada pull request contra main.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Corre en runners de GitHub contra un MySQL descartable que vive solo durante el job. Ninguna base real interviene.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Un error acá es problema de una persona, no del equipo.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Sus dos jobs son checks obligatorios: si fallan, el botón de merge queda bloqueado.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1792224"/>
            <a:ext cx="5090007" cy="35661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7055" y="2048256"/>
            <a:ext cx="45047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F7B5A"/>
                </a:solidFill>
                <a:latin typeface="Helvetica Neue"/>
                <a:cs typeface="Helvetica Neue"/>
                <a:ea typeface="Helvetica Neue"/>
              </a:rPr>
              <a:t>DESPUÉS DEL MERGE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7055" y="2377440"/>
            <a:ext cx="45047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>
                <a:solidFill>
                  <a:srgbClr val="101828"/>
                </a:solidFill>
                <a:latin typeface="Menlo"/>
                <a:cs typeface="Menlo"/>
                <a:ea typeface="Menlo"/>
              </a:rPr>
              <a:t>flyway-migrate.yml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7055" y="2889504"/>
            <a:ext cx="4504791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Se dispara con un push a main que toca sql/**.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Orquesta tres llamadas al workflow reutilizable flyway-run.yml, una por ambiente.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Corre en el runner self-hosted dentro de la VPC: es el único que tiene ruta hacia las bases privadas.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Un solo run a la vez, y nunca se cancela uno en vuelo.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2E5AAC"/>
                </a:solidFill>
                <a:latin typeface="Helvetica Neue"/>
                <a:cs typeface="Helvetica Neue"/>
                <a:ea typeface="Helvetica Neue"/>
              </a:rPr>
              <a:t>PR-CHECK.YML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Los dos checks que bloquean el merge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Se disparan en todo pull request, sin filtro de rutas. Un check obligatorio que nunca corre nunca pasa.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38528"/>
            <a:ext cx="10637215" cy="1524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97228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8A2B3"/>
                </a:solidFill>
                <a:latin typeface="Helvetica Neue"/>
                <a:cs typeface="Helvetica Neue"/>
                <a:ea typeface="Helvetica Neue"/>
              </a:rPr>
              <a:t>Flyway + GitHub Actions + MySQL · sp-implementation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29107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8A2B3"/>
                </a:solidFill>
                <a:latin typeface="Helvetica Neue"/>
                <a:cs typeface="Helvetica Neue"/>
                <a:ea typeface="Helvetica Neue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49424"/>
            <a:ext cx="10637215" cy="420624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350008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6472" y="2350008"/>
            <a:ext cx="75282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QUÉ ATRAPA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78892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101828"/>
                </a:solidFill>
                <a:latin typeface="Menlo"/>
                <a:cs typeface="Menlo"/>
                <a:ea typeface="Menlo"/>
              </a:rPr>
              <a:t>Applied migrations
are not edited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6472" y="2788920"/>
            <a:ext cx="75282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Compara la rama contra main y rechaza cualquier V__ modificada, renombrada o borrada. Su checksum ya está registrado en cada ambiente que la aplicó.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675888"/>
            <a:ext cx="10637215" cy="9525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79476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101828"/>
                </a:solidFill>
                <a:latin typeface="Menlo"/>
                <a:cs typeface="Menlo"/>
                <a:ea typeface="Menlo"/>
              </a:rPr>
              <a:t>Migrations run
from an empty schema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3794760"/>
            <a:ext cx="75282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Levanta un MySQL 8 vacío y aplica todo en orden. Después vuelve a correr migrate: la segunda pasada no debe aplicar nada.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681728"/>
            <a:ext cx="10637215" cy="9525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855464"/>
            <a:ext cx="5172303" cy="14173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40640" cy="141732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5074920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Por qué desde un esquema vacío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" y="5477256"/>
            <a:ext cx="469681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Atrapa la migración que solo funciona porque el ambiente anterior ya tenía los objetos de los que depende. Es exactamente lo que haría un ambiente nuevo.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2151" y="4855464"/>
            <a:ext cx="5172303" cy="14173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42151" y="4855464"/>
            <a:ext cx="40640" cy="141732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8183" y="5074920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Por qué se corre migrate dos veces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5477256"/>
            <a:ext cx="469681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Una migración que aplica dos veces no es idempotente y va a divergir entre ambientes. Si la segunda pasada aplica algo, el job falla.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2E5AAC"/>
                </a:solidFill>
                <a:latin typeface="Helvetica Neue"/>
                <a:cs typeface="Helvetica Neue"/>
                <a:ea typeface="Helvetica Neue"/>
              </a:rPr>
              <a:t>FLYWAY-MIGRATE.YML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El orquestador: el orden de promoción es el contrato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91072"/>
            <a:ext cx="97228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8A2B3"/>
                </a:solidFill>
                <a:latin typeface="Helvetica Neue"/>
                <a:cs typeface="Helvetica Neue"/>
                <a:ea typeface="Helvetica Neue"/>
              </a:rPr>
              <a:t>Flyway + GitHub Actions + MySQL · sp-implementation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29107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8A2B3"/>
                </a:solidFill>
                <a:latin typeface="Helvetica Neue"/>
                <a:cs typeface="Helvetica Neue"/>
                <a:ea typeface="Helvetica Neue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6035040" cy="363771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2011680"/>
            <a:ext cx="5596128" cy="31988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250" b="0">
                <a:solidFill>
                  <a:srgbClr val="7DD3FC"/>
                </a:solidFill>
                <a:latin typeface="Menlo"/>
                <a:cs typeface="Menlo"/>
                <a:ea typeface="Menlo"/>
              </a:rPr>
              <a:t>on: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250" b="0">
                <a:solidFill>
                  <a:srgbClr val="E2E8F0"/>
                </a:solidFill>
                <a:latin typeface="Menlo"/>
                <a:cs typeface="Menlo"/>
                <a:ea typeface="Menlo"/>
              </a:rPr>
              <a:t>  push: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250" b="0">
                <a:solidFill>
                  <a:srgbClr val="E2E8F0"/>
                </a:solidFill>
                <a:latin typeface="Menlo"/>
                <a:cs typeface="Menlo"/>
                <a:ea typeface="Menlo"/>
              </a:rPr>
              <a:t>    branches: [main]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250" b="0">
                <a:solidFill>
                  <a:srgbClr val="E2E8F0"/>
                </a:solidFill>
                <a:latin typeface="Menlo"/>
                <a:cs typeface="Menlo"/>
                <a:ea typeface="Menlo"/>
              </a:rPr>
              <a:t>    paths: ["sql/**"]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250" b="0">
                <a:solidFill>
                  <a:srgbClr val="E2E8F0"/>
                </a:solidFill>
                <a:latin typeface="Menlo"/>
                <a:cs typeface="Menlo"/>
                <a:ea typeface="Menlo"/>
              </a:rPr>
              <a:t/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250" b="0">
                <a:solidFill>
                  <a:srgbClr val="7DD3FC"/>
                </a:solidFill>
                <a:latin typeface="Menlo"/>
                <a:cs typeface="Menlo"/>
                <a:ea typeface="Menlo"/>
              </a:rPr>
              <a:t>concurrency: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250" b="0">
                <a:solidFill>
                  <a:srgbClr val="E2E8F0"/>
                </a:solidFill>
                <a:latin typeface="Menlo"/>
                <a:cs typeface="Menlo"/>
                <a:ea typeface="Menlo"/>
              </a:rPr>
              <a:t>  group: flyway-migrate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250" b="0">
                <a:solidFill>
                  <a:srgbClr val="E2E8F0"/>
                </a:solidFill>
                <a:latin typeface="Menlo"/>
                <a:cs typeface="Menlo"/>
                <a:ea typeface="Menlo"/>
              </a:rPr>
              <a:t>  cancel-in-progress: false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250" b="0">
                <a:solidFill>
                  <a:srgbClr val="E2E8F0"/>
                </a:solidFill>
                <a:latin typeface="Menlo"/>
                <a:cs typeface="Menlo"/>
                <a:ea typeface="Menlo"/>
              </a:rPr>
              <a:t/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250" b="0">
                <a:solidFill>
                  <a:srgbClr val="7DD3FC"/>
                </a:solidFill>
                <a:latin typeface="Menlo"/>
                <a:cs typeface="Menlo"/>
                <a:ea typeface="Menlo"/>
              </a:rPr>
              <a:t>jobs: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250" b="0">
                <a:solidFill>
                  <a:srgbClr val="E2E8F0"/>
                </a:solidFill>
                <a:latin typeface="Menlo"/>
                <a:cs typeface="Menlo"/>
                <a:ea typeface="Menlo"/>
              </a:rPr>
              <a:t>  dev:          uses: ./…/flyway-run.yml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250" b="0">
                <a:solidFill>
                  <a:srgbClr val="E2E8F0"/>
                </a:solidFill>
                <a:latin typeface="Menlo"/>
                <a:cs typeface="Menlo"/>
                <a:ea typeface="Menlo"/>
              </a:rPr>
              <a:t>  test:         needs: dev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250" b="0">
                <a:solidFill>
                  <a:srgbClr val="E2E8F0"/>
                </a:solidFill>
                <a:latin typeface="Menlo"/>
                <a:cs typeface="Menlo"/>
                <a:ea typeface="Menlo"/>
              </a:rPr>
              <a:t>  production:   needs: 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792224"/>
            <a:ext cx="4282135" cy="74980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1920240"/>
            <a:ext cx="37334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2E5AAC"/>
                </a:solidFill>
                <a:latin typeface="Menlo"/>
                <a:cs typeface="Menlo"/>
                <a:ea typeface="Menlo"/>
              </a:rPr>
              <a:t>dev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212848"/>
            <a:ext cx="37334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aplica automáticamente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191091" y="2596896"/>
            <a:ext cx="164592" cy="292608"/>
          </a:xfrm>
          <a:prstGeom prst="downArrow">
            <a:avLst/>
          </a:prstGeom>
          <a:solidFill>
            <a:srgbClr val="98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0" y="2962656"/>
            <a:ext cx="4282135" cy="74980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3090672"/>
            <a:ext cx="37334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2E5AAC"/>
                </a:solidFill>
                <a:latin typeface="Menlo"/>
                <a:cs typeface="Menlo"/>
                <a:ea typeface="Menlo"/>
              </a:rP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3383280"/>
            <a:ext cx="37334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solo si dev pasó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9191091" y="3767328"/>
            <a:ext cx="164592" cy="292608"/>
          </a:xfrm>
          <a:prstGeom prst="downArrow">
            <a:avLst/>
          </a:prstGeom>
          <a:solidFill>
            <a:srgbClr val="98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32320" y="4133088"/>
            <a:ext cx="4282135" cy="749808"/>
          </a:xfrm>
          <a:prstGeom prst="roundRect">
            <a:avLst>
              <a:gd name="adj" fmla="val 6000"/>
            </a:avLst>
          </a:prstGeom>
          <a:solidFill>
            <a:srgbClr val="FD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4261104"/>
            <a:ext cx="37334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B42318"/>
                </a:solidFill>
                <a:latin typeface="Menlo"/>
                <a:cs typeface="Menlo"/>
                <a:ea typeface="Menlo"/>
              </a:rPr>
              <a:t>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4553712"/>
            <a:ext cx="37334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espera aprobación humana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992624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900"/>
              </a:spcAft>
            </a:pPr>
            <a:r>
              <a:rPr sz="1300" b="1">
                <a:solidFill>
                  <a:srgbClr val="101828"/>
                </a:solidFill>
                <a:latin typeface="Menlo"/>
                <a:cs typeface="Menlo"/>
                <a:ea typeface="Menlo"/>
              </a:rPr>
              <a:t>needs: test</a:t>
            </a:r>
            <a:r>
              <a:rPr sz="13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  hace que producción sea inalcanzable si test falló: el job ni siquiera arranca. No es una advertencia, es una imposibilidad.</a:t>
            </a:r>
          </a:p>
          <a:p>
            <a:pPr algn="l">
              <a:lnSpc>
                <a:spcPct val="140000"/>
              </a:lnSpc>
              <a:spcAft>
                <a:spcPts val="900"/>
              </a:spcAft>
            </a:pPr>
            <a:r>
              <a:rPr sz="1300" b="1">
                <a:solidFill>
                  <a:srgbClr val="101828"/>
                </a:solidFill>
                <a:latin typeface="Menlo"/>
                <a:cs typeface="Menlo"/>
                <a:ea typeface="Menlo"/>
              </a:rPr>
              <a:t>cancel-in-progress: false</a:t>
            </a:r>
            <a:r>
              <a:rPr sz="13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  existe porque una migración cancelada a mitad de camino deja el historial de esquema en un estado que una persona tiene que resolver a mano.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2E5AAC"/>
                </a:solidFill>
                <a:latin typeface="Helvetica Neue"/>
                <a:cs typeface="Helvetica Neue"/>
                <a:ea typeface="Helvetica Neue"/>
              </a:rPr>
              <a:t>FLYWAY-RUN.YML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El workflow reutilizable: un ambiente por invocación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91072"/>
            <a:ext cx="97228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8A2B3"/>
                </a:solidFill>
                <a:latin typeface="Helvetica Neue"/>
                <a:cs typeface="Helvetica Neue"/>
                <a:ea typeface="Helvetica Neue"/>
              </a:rPr>
              <a:t>Flyway + GitHub Actions + MySQL · sp-implementation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29107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8A2B3"/>
                </a:solidFill>
                <a:latin typeface="Helvetica Neue"/>
                <a:cs typeface="Helvetica Neue"/>
                <a:ea typeface="Helvetica Neue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92224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2E5AAC"/>
                </a:solidFill>
                <a:latin typeface="Helvetica Neue"/>
                <a:cs typeface="Helvetica Neue"/>
                <a:ea typeface="Helvetica Neue"/>
              </a:rPr>
              <a:t>LOS CUATRO PASOS, EN ORDEN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49424"/>
            <a:ext cx="329184" cy="329184"/>
          </a:xfrm>
          <a:prstGeom prst="roundRect">
            <a:avLst>
              <a:gd name="adj" fmla="val 35000"/>
            </a:avLst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4942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  <a:cs typeface="Helvetica Neue"/>
                <a:ea typeface="Helvetica Ne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9304" y="2267712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01828"/>
                </a:solidFill>
                <a:latin typeface="Menlo"/>
                <a:cs typeface="Menlo"/>
                <a:ea typeface="Menlo"/>
              </a:rPr>
              <a:t>flyway info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9304" y="2560320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Foto del estado antes de tocar nada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962656"/>
            <a:ext cx="329184" cy="329184"/>
          </a:xfrm>
          <a:prstGeom prst="roundRect">
            <a:avLst>
              <a:gd name="adj" fmla="val 35000"/>
            </a:avLst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96265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  <a:cs typeface="Helvetica Neue"/>
                <a:ea typeface="Helvetica Neue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9304" y="2980944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01828"/>
                </a:solidFill>
                <a:latin typeface="Menlo"/>
                <a:cs typeface="Menlo"/>
                <a:ea typeface="Menlo"/>
              </a:rPr>
              <a:t>flyway 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9304" y="3273552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Checksums contra la base. Acá se detiene si algo se editó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675888"/>
            <a:ext cx="329184" cy="329184"/>
          </a:xfrm>
          <a:prstGeom prst="roundRect">
            <a:avLst>
              <a:gd name="adj" fmla="val 35000"/>
            </a:avLst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7588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  <a:cs typeface="Helvetica Neue"/>
                <a:ea typeface="Helvetica Neue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9304" y="369417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01828"/>
                </a:solidFill>
                <a:latin typeface="Menlo"/>
                <a:cs typeface="Menlo"/>
                <a:ea typeface="Menlo"/>
              </a:rPr>
              <a:t>flyway migrate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9304" y="3986784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Aplica lo pendiente y escribe el historial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389120"/>
            <a:ext cx="329184" cy="329184"/>
          </a:xfrm>
          <a:prstGeom prst="roundRect">
            <a:avLst>
              <a:gd name="adj" fmla="val 35000"/>
            </a:avLst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8912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  <a:cs typeface="Helvetica Neue"/>
                <a:ea typeface="Helvetica Neue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9304" y="4407408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01828"/>
                </a:solidFill>
                <a:latin typeface="Menlo"/>
                <a:cs typeface="Menlo"/>
                <a:ea typeface="Menlo"/>
              </a:rPr>
              <a:t>flyway info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9304" y="470001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Foto del estado después, para el registro del run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12280" y="1792224"/>
            <a:ext cx="4602175" cy="30632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04888" y="2029968"/>
            <a:ext cx="4016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Las cuatro líneas que sostienen el diseño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4888" y="2468880"/>
            <a:ext cx="4016959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>
                <a:solidFill>
                  <a:srgbClr val="2E5AAC"/>
                </a:solidFill>
                <a:latin typeface="Menlo"/>
                <a:cs typeface="Menlo"/>
                <a:ea typeface="Menlo"/>
              </a:rPr>
              <a:t>runs-on: [self-hosted, linux, vpc-interna]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Los runners de GitHub no tienen ruta a bases privadas.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>
                <a:solidFill>
                  <a:srgbClr val="2E5AAC"/>
                </a:solidFill>
                <a:latin typeface="Menlo"/>
                <a:cs typeface="Menlo"/>
                <a:ea typeface="Menlo"/>
              </a:rPr>
              <a:t>environment: ${{ inputs.environment }}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Acota los secrets y aplica las reglas de protección del ambiente.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>
                <a:solidFill>
                  <a:srgbClr val="2E5AAC"/>
                </a:solidFill>
                <a:latin typeface="Menlo"/>
                <a:cs typeface="Menlo"/>
                <a:ea typeface="Menlo"/>
              </a:rPr>
              <a:t>needs: test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Producción no arranca si test falló.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>
                <a:solidFill>
                  <a:srgbClr val="2E5AAC"/>
                </a:solidFill>
                <a:latin typeface="Menlo"/>
                <a:cs typeface="Menlo"/>
                <a:ea typeface="Menlo"/>
              </a:rPr>
              <a:t>FLYWAY_CLEAN_DISABLED: "true"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flyway clean borra todos los objetos del esquema. Nada acá lo necesita.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12978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validate corre con </a:t>
            </a:r>
            <a:r>
              <a:rPr sz="1300" b="1">
                <a:solidFill>
                  <a:srgbClr val="101828"/>
                </a:solidFill>
                <a:latin typeface="Menlo"/>
                <a:cs typeface="Menlo"/>
                <a:ea typeface="Menlo"/>
              </a:rPr>
              <a:t>-ignoreMigrationPatterns='*:pending'</a:t>
            </a:r>
            <a:r>
              <a:rPr sz="13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: tener migraciones pendientes es el estado normal antes de un migrate, no un problema. Los checksums que no coinciden siguen fallando.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2E5AAC"/>
                </a:solidFill>
                <a:latin typeface="Helvetica Neue"/>
                <a:cs typeface="Helvetica Neue"/>
                <a:ea typeface="Helvetica Neue"/>
              </a:rPr>
              <a:t>SECRETS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Cinco por ambiente, y el aislamiento lo impone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No son secrets de repositorio. Un job que declara environment: dev no puede leer un secret guardado en production.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38528"/>
            <a:ext cx="10637215" cy="1524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97228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8A2B3"/>
                </a:solidFill>
                <a:latin typeface="Helvetica Neue"/>
                <a:cs typeface="Helvetica Neue"/>
                <a:ea typeface="Helvetica Neue"/>
              </a:rPr>
              <a:t>Flyway + GitHub Actions + MySQL · sp-implementation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29107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8A2B3"/>
                </a:solidFill>
                <a:latin typeface="Helvetica Neue"/>
                <a:cs typeface="Helvetica Neue"/>
                <a:ea typeface="Helvetica Neue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49424"/>
            <a:ext cx="5852160" cy="420624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350008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SECRET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2072" y="2350008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VALOR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788920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Menlo"/>
                <a:cs typeface="Menlo"/>
                <a:ea typeface="Menlo"/>
              </a:rPr>
              <a:t>DB_HOST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2072" y="278892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Host o endpoint de RDS de ese ambiente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090672"/>
            <a:ext cx="5852160" cy="9525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209544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Menlo"/>
                <a:cs typeface="Menlo"/>
                <a:ea typeface="Menlo"/>
              </a:rPr>
              <a:t>DB_PORT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2072" y="320954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3306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511296"/>
            <a:ext cx="5852160" cy="9525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630168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Menlo"/>
                <a:cs typeface="Menlo"/>
                <a:ea typeface="Menlo"/>
              </a:rPr>
              <a:t>DB_NAME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2072" y="3630168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Esquema que administra Flyway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31920"/>
            <a:ext cx="5852160" cy="9525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05079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Menlo"/>
                <a:cs typeface="Menlo"/>
                <a:ea typeface="Menlo"/>
              </a:rPr>
              <a:t>DB_USER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62072" y="405079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Usuario de migración con privilegios mínimos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352544"/>
            <a:ext cx="5852160" cy="9525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4471416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Menlo"/>
                <a:cs typeface="Menlo"/>
                <a:ea typeface="Menlo"/>
              </a:rPr>
              <a:t>DB_PASSWORD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62072" y="447141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Su contraseña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773168"/>
            <a:ext cx="5852160" cy="9525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040880" y="2249424"/>
            <a:ext cx="4373575" cy="1234440"/>
          </a:xfrm>
          <a:prstGeom prst="roundRect">
            <a:avLst>
              <a:gd name="adj" fmla="val 5000"/>
            </a:avLst>
          </a:prstGeom>
          <a:solidFill>
            <a:srgbClr val="E4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40880" y="2249424"/>
            <a:ext cx="40640" cy="1234440"/>
          </a:xfrm>
          <a:prstGeom prst="rect">
            <a:avLst/>
          </a:prstGeom>
          <a:solidFill>
            <a:srgbClr val="0F7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96912" y="2468880"/>
            <a:ext cx="3898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Nunca como flags de CLI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96912" y="2871216"/>
            <a:ext cx="389808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Se consumen como variables de entorno FLYWAY_URL / FLYWAY_USER / FLYWAY_PASSWORD. Una contraseña en la línea de comando la ve cualquiera con un ps aux.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3666744"/>
            <a:ext cx="4373575" cy="1280160"/>
          </a:xfrm>
          <a:prstGeom prst="roundRect">
            <a:avLst>
              <a:gd name="adj" fmla="val 5000"/>
            </a:avLst>
          </a:prstGeom>
          <a:solidFill>
            <a:srgbClr val="E4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0880" y="3666744"/>
            <a:ext cx="40640" cy="1280160"/>
          </a:xfrm>
          <a:prstGeom prst="rect">
            <a:avLst/>
          </a:prstGeom>
          <a:solidFill>
            <a:srgbClr val="0F7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96912" y="3886200"/>
            <a:ext cx="3898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Privilegio mínimo real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96912" y="4288536"/>
            <a:ext cx="3898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El usuario flyway_app tiene grants acotados al esquema flyway_demo. No es GRANT ALL y no es ON *.*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221224"/>
            <a:ext cx="10637215" cy="9601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477256"/>
            <a:ext cx="99971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5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Esto es lo que hace imposible que una corrida de dev toque la base de producción.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5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No es una convención de nombres ni una buena práctica sugerida: es un límite que la plataforma impone.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2E5AAC"/>
                </a:solidFill>
                <a:latin typeface="Helvetica Neue"/>
                <a:cs typeface="Helvetica Neue"/>
                <a:ea typeface="Helvetica Neue"/>
              </a:rPr>
              <a:t>EL GATE DE PRODUCCIÓN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La aprobación humana, y por qué cada opción importa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91072"/>
            <a:ext cx="97228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8A2B3"/>
                </a:solidFill>
                <a:latin typeface="Helvetica Neue"/>
                <a:cs typeface="Helvetica Neue"/>
                <a:ea typeface="Helvetica Neue"/>
              </a:rPr>
              <a:t>Flyway + GitHub Actions + MySQL · sp-implementation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29107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8A2B3"/>
                </a:solidFill>
                <a:latin typeface="Helvetica Neue"/>
                <a:cs typeface="Helvetica Neue"/>
                <a:ea typeface="Helvetica Neue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10637215" cy="420624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892808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REGLA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33672" y="1892808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VALOR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1892808"/>
            <a:ext cx="46936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QUÉ PASA SI NO ESTÁ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331720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Required reviewers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3672" y="2331720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enlo"/>
                <a:cs typeface="Menlo"/>
                <a:ea typeface="Menlo"/>
              </a:rPr>
              <a:t>al menos una persona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2331720"/>
            <a:ext cx="469361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El run se detiene en Waiting for approval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724912"/>
            <a:ext cx="10637215" cy="9525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2843784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Allow administrators to bypass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3672" y="2843784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B42318"/>
                </a:solidFill>
                <a:latin typeface="Menlo"/>
                <a:cs typeface="Menlo"/>
                <a:ea typeface="Menlo"/>
              </a:rPr>
              <a:t>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2843784"/>
            <a:ext cx="469361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Si queda activo, la regla es una sugerencia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236976"/>
            <a:ext cx="10637215" cy="9525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355848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Deployment branches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33672" y="3355848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enlo"/>
                <a:cs typeface="Menlo"/>
                <a:ea typeface="Menlo"/>
              </a:rPr>
              <a:t>solo 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3355848"/>
            <a:ext cx="469361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Sin esto, cualquier rama puede desplegar a producción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749040"/>
            <a:ext cx="10637215" cy="9525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3867912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Prevent self-review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33672" y="3867912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enlo"/>
                <a:cs typeface="Menlo"/>
                <a:ea typeface="Menlo"/>
              </a:rPr>
              <a:t>on en equipo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3867912"/>
            <a:ext cx="469361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Exige un aprobador distinto de quien disparó el run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261104"/>
            <a:ext cx="10637215" cy="9525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4398264"/>
            <a:ext cx="5172303" cy="1463040"/>
          </a:xfrm>
          <a:prstGeom prst="roundRect">
            <a:avLst>
              <a:gd name="adj" fmla="val 5000"/>
            </a:avLst>
          </a:prstGeom>
          <a:solidFill>
            <a:srgbClr val="E4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398264"/>
            <a:ext cx="40640" cy="1463040"/>
          </a:xfrm>
          <a:prstGeom prst="rect">
            <a:avLst/>
          </a:prstGeom>
          <a:solidFill>
            <a:srgbClr val="0F7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4617720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Lo que queda registrado al aprobar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" y="5020056"/>
            <a:ext cx="4696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Quién aprobó, cuándo, para qué ambiente y con qué comentario. De forma permanente, sin que nadie tenga que anotarlo en ningún lado.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2151" y="4398264"/>
            <a:ext cx="5172303" cy="1463040"/>
          </a:xfrm>
          <a:prstGeom prst="roundRect">
            <a:avLst>
              <a:gd name="adj" fmla="val 5000"/>
            </a:avLst>
          </a:prstGeom>
          <a:solidFill>
            <a:srgbClr val="FE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42151" y="4398264"/>
            <a:ext cx="40640" cy="1463040"/>
          </a:xfrm>
          <a:prstGeom prst="rect">
            <a:avLst/>
          </a:prstGeom>
          <a:solidFill>
            <a:srgbClr val="B54E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8183" y="4617720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Son dos guardados distintos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8183" y="5020056"/>
            <a:ext cx="4696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0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El botón verde guarda el bloque de reviewers; la política de ramas se guarda aparte. Configurar los reviewers y salir deja producción abierta a toda rama.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2E5AAC"/>
                </a:solidFill>
                <a:latin typeface="Helvetica Neue"/>
                <a:cs typeface="Helvetica Neue"/>
                <a:ea typeface="Helvetica Neue"/>
              </a:rPr>
              <a:t>DE PUNTA A PUNTA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El ciclo completo de un cambio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91072"/>
            <a:ext cx="97228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8A2B3"/>
                </a:solidFill>
                <a:latin typeface="Helvetica Neue"/>
                <a:cs typeface="Helvetica Neue"/>
                <a:ea typeface="Helvetica Neue"/>
              </a:rPr>
              <a:t>Flyway + GitHub Actions + MySQL · sp-implementation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29107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8A2B3"/>
                </a:solidFill>
                <a:latin typeface="Helvetica Neue"/>
                <a:cs typeface="Helvetica Neue"/>
                <a:ea typeface="Helvetica Neue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1966508" cy="196596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029968"/>
            <a:ext cx="15641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2E5AAC"/>
                </a:solidFill>
                <a:latin typeface="Helvetica Neue"/>
                <a:cs typeface="Helvetica Neue"/>
                <a:ea typeface="Helvetica Neue"/>
              </a:rPr>
              <a:t>Rama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15641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2E5AAC"/>
                </a:solidFill>
                <a:latin typeface="Menlo"/>
                <a:cs typeface="Menlo"/>
                <a:ea typeface="Menlo"/>
              </a:rPr>
              <a:t>feature/…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761488"/>
            <a:ext cx="15641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Se edita el .sql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762036" y="2688336"/>
            <a:ext cx="164592" cy="164592"/>
          </a:xfrm>
          <a:prstGeom prst="rightArrow">
            <a:avLst/>
          </a:prstGeom>
          <a:solidFill>
            <a:srgbClr val="98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44916" y="1792224"/>
            <a:ext cx="1966508" cy="196596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46084" y="2029968"/>
            <a:ext cx="15641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2E5AAC"/>
                </a:solidFill>
                <a:latin typeface="Helvetica Neue"/>
                <a:cs typeface="Helvetica Neue"/>
                <a:ea typeface="Helvetica Neue"/>
              </a:rPr>
              <a:t>Pull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6084" y="2395728"/>
            <a:ext cx="15641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2E5AAC"/>
                </a:solidFill>
                <a:latin typeface="Menlo"/>
                <a:cs typeface="Menlo"/>
                <a:ea typeface="Menlo"/>
              </a:rPr>
              <a:t>2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6084" y="2761488"/>
            <a:ext cx="15641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Inmutabilidad + migrate en vacío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929713" y="2688336"/>
            <a:ext cx="164592" cy="164592"/>
          </a:xfrm>
          <a:prstGeom prst="rightArrow">
            <a:avLst/>
          </a:prstGeom>
          <a:solidFill>
            <a:srgbClr val="98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12593" y="1792224"/>
            <a:ext cx="1966508" cy="196596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3761" y="2029968"/>
            <a:ext cx="15641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2E5AAC"/>
                </a:solidFill>
                <a:latin typeface="Helvetica Neue"/>
                <a:cs typeface="Helvetica Neue"/>
                <a:ea typeface="Helvetica Neue"/>
              </a:rPr>
              <a:t>Merge a main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3761" y="2395728"/>
            <a:ext cx="15641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2E5AAC"/>
                </a:solidFill>
                <a:latin typeface="Menlo"/>
                <a:cs typeface="Menlo"/>
                <a:ea typeface="Menlo"/>
              </a:rPr>
              <a:t>push sql/**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3761" y="2761488"/>
            <a:ext cx="15641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Dispara el pipeline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097389" y="2688336"/>
            <a:ext cx="164592" cy="164592"/>
          </a:xfrm>
          <a:prstGeom prst="rightArrow">
            <a:avLst/>
          </a:prstGeom>
          <a:solidFill>
            <a:srgbClr val="98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80269" y="1792224"/>
            <a:ext cx="1966508" cy="1965960"/>
          </a:xfrm>
          <a:prstGeom prst="roundRect">
            <a:avLst>
              <a:gd name="adj" fmla="val 6000"/>
            </a:avLst>
          </a:prstGeom>
          <a:solidFill>
            <a:srgbClr val="E4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1437" y="2029968"/>
            <a:ext cx="15641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0F7B5A"/>
                </a:solidFill>
                <a:latin typeface="Helvetica Neue"/>
                <a:cs typeface="Helvetica Neue"/>
                <a:ea typeface="Helvetica Neue"/>
              </a:rPr>
              <a:t>dev →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1437" y="2395728"/>
            <a:ext cx="15641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0F7B5A"/>
                </a:solidFill>
                <a:latin typeface="Menlo"/>
                <a:cs typeface="Menlo"/>
                <a:ea typeface="Menlo"/>
              </a:rPr>
              <a:t>automático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1437" y="2761488"/>
            <a:ext cx="15641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Cada uno valida y aplica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265066" y="2688336"/>
            <a:ext cx="164592" cy="164592"/>
          </a:xfrm>
          <a:prstGeom prst="rightArrow">
            <a:avLst/>
          </a:prstGeom>
          <a:solidFill>
            <a:srgbClr val="98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47946" y="1792224"/>
            <a:ext cx="1966508" cy="1965960"/>
          </a:xfrm>
          <a:prstGeom prst="roundRect">
            <a:avLst>
              <a:gd name="adj" fmla="val 6000"/>
            </a:avLst>
          </a:prstGeom>
          <a:solidFill>
            <a:srgbClr val="FD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9114" y="2029968"/>
            <a:ext cx="15641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B42318"/>
                </a:solidFill>
                <a:latin typeface="Helvetica Neue"/>
                <a:cs typeface="Helvetica Neue"/>
                <a:ea typeface="Helvetica Neue"/>
              </a:rPr>
              <a:t>Producción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9114" y="2395728"/>
            <a:ext cx="15641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B42318"/>
                </a:solidFill>
                <a:latin typeface="Menlo"/>
                <a:cs typeface="Menlo"/>
                <a:ea typeface="Menlo"/>
              </a:rPr>
              <a:t>aprobación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9114" y="2761488"/>
            <a:ext cx="15641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Espera al reviewer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123944"/>
            <a:ext cx="10637215" cy="16002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24712" y="4379976"/>
            <a:ext cx="994227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500" b="1">
                <a:solidFill>
                  <a:srgbClr val="B42318"/>
                </a:solidFill>
                <a:latin typeface="Helvetica Neue"/>
                <a:cs typeface="Helvetica Neue"/>
                <a:ea typeface="Helvetica Neue"/>
              </a:rPr>
              <a:t>El caso que hoy pasa desapercibido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350" b="0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Alguien edita una migración V__ ya aplicada y la pushea. El pipeline falla en dev por checksum mismatch, y test y producción se saltean enteros.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35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Antes, ese mismo error no se detectaba hasta que los ambientes ya habían divergido.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2E5AAC"/>
                </a:solidFill>
                <a:latin typeface="Helvetica Neue"/>
                <a:cs typeface="Helvetica Neue"/>
                <a:ea typeface="Helvetica Neue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Qué gana el equipo con esto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91072"/>
            <a:ext cx="97228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8A2B3"/>
                </a:solidFill>
                <a:latin typeface="Helvetica Neue"/>
                <a:cs typeface="Helvetica Neue"/>
                <a:ea typeface="Helvetica Neue"/>
              </a:rPr>
              <a:t>Flyway + GitHub Actions + MySQL · sp-implementation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29107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8A2B3"/>
                </a:solidFill>
                <a:latin typeface="Helvetica Neue"/>
                <a:cs typeface="Helvetica Neue"/>
                <a:ea typeface="Helvetica Neue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92224"/>
            <a:ext cx="40640" cy="841248"/>
          </a:xfrm>
          <a:prstGeom prst="rect">
            <a:avLst/>
          </a:prstGeom>
          <a:solidFill>
            <a:srgbClr val="0F7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" y="1847088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Historial completo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" y="2194560"/>
            <a:ext cx="48156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git log responde quién, cuándo y por qué, por cada procedure.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792224"/>
            <a:ext cx="40640" cy="841248"/>
          </a:xfrm>
          <a:prstGeom prst="rect">
            <a:avLst/>
          </a:prstGeom>
          <a:solidFill>
            <a:srgbClr val="0F7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0751" y="1847088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Orden garantizado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0751" y="2194560"/>
            <a:ext cx="48156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Los tres ambientes reciben los mismos cambios en la misma secuencia.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871216"/>
            <a:ext cx="40640" cy="841248"/>
          </a:xfrm>
          <a:prstGeom prst="rect">
            <a:avLst/>
          </a:prstGeom>
          <a:solidFill>
            <a:srgbClr val="0F7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4" y="2926080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Errores atrapados temprano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3273552"/>
            <a:ext cx="48156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En el pull request, contra una base descartable, antes del merge.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007" y="2871216"/>
            <a:ext cx="40640" cy="841248"/>
          </a:xfrm>
          <a:prstGeom prst="rect">
            <a:avLst/>
          </a:prstGeom>
          <a:solidFill>
            <a:srgbClr val="0F7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0751" y="2926080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Producción con freno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0751" y="3273552"/>
            <a:ext cx="48156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Ningún cambio llega sin que una persona lo apruebe y quede registrado.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50208"/>
            <a:ext cx="40640" cy="841248"/>
          </a:xfrm>
          <a:prstGeom prst="rect">
            <a:avLst/>
          </a:prstGeom>
          <a:solidFill>
            <a:srgbClr val="0F7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005072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Sin acceso manual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" y="4352544"/>
            <a:ext cx="48156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Nadie necesita credenciales de producción para aplicar un cambio.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3950208"/>
            <a:ext cx="40640" cy="841248"/>
          </a:xfrm>
          <a:prstGeom prst="rect">
            <a:avLst/>
          </a:prstGeom>
          <a:solidFill>
            <a:srgbClr val="0F7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0751" y="4005072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>
                <a:solidFill>
                  <a:srgbClr val="101828"/>
                </a:solidFill>
                <a:latin typeface="Helvetica Neue"/>
                <a:cs typeface="Helvetica Neue"/>
                <a:ea typeface="Helvetica Neue"/>
              </a:rPr>
              <a:t>Reproducible desde cero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0751" y="4352544"/>
            <a:ext cx="48156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67085"/>
                </a:solidFill>
                <a:latin typeface="Helvetica Neue"/>
                <a:cs typeface="Helvetica Neue"/>
                <a:ea typeface="Helvetica Neue"/>
              </a:rPr>
              <a:t>Un ambiente nuevo se construye corriendo las migraciones en orden.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2122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2E5AAC"/>
                </a:solidFill>
                <a:latin typeface="Helvetica Neue"/>
                <a:cs typeface="Helvetica Neue"/>
                <a:ea typeface="Helvetica Neue"/>
              </a:rPr>
              <a:t>Los stored procedures dejan de ser archivos sueltos y pasan a ser código versionado, revisado y desplegado como cualquier otro.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